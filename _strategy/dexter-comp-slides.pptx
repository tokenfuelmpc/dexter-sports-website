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Women are nearly two-thirds of full-time assistant coaches but only 46% of coaches for women's teams and 6 in 100 for men's teams (Collective Think Tank, 2026). Big agencies fight over Power-5 head coaches. Boutiques like BDS stop at women's basketball. Nobody serves women coaches and assistants across all sports at mid-major and below. That is Dexter's lane.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0" y="-548640"/>
            <a:ext cx="29260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0" b="1" dirty="0">
                <a:solidFill>
                  <a:srgbClr val="F1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</a:t>
            </a:r>
            <a:endParaRPr lang="en-US" sz="30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A227"/>
                </a:solidFill>
              </a:rPr>
              <a:t>COMPETITIVE LANDSCAPE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59436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middle of the market is wide open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822960" y="4526280"/>
            <a:ext cx="4572000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325880"/>
            <a:ext cx="0" cy="320040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4572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Power-5 head coaches &amp; stars  →  assistants, mid-major, D-II/III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 rot="16200000">
            <a:off x="-1005840" y="2788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Football &amp; men's-led  →  women's &amp; all sports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566160" y="1417320"/>
            <a:ext cx="1737360" cy="1344168"/>
          </a:xfrm>
          <a:prstGeom prst="roundRect">
            <a:avLst>
              <a:gd name="adj" fmla="val 5442"/>
            </a:avLst>
          </a:prstGeom>
          <a:solidFill>
            <a:srgbClr val="C9A227">
              <a:alpha val="15000"/>
            </a:srgbClr>
          </a:solidFill>
          <a:ln w="12700">
            <a:solidFill>
              <a:srgbClr val="C9A227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1133856" y="4087368"/>
            <a:ext cx="109728" cy="109728"/>
          </a:xfrm>
          <a:prstGeom prst="ellipse">
            <a:avLst/>
          </a:prstGeom>
          <a:solidFill>
            <a:srgbClr val="14213D"/>
          </a:solidFill>
          <a:ln w="15875">
            <a:solidFill>
              <a:srgbClr val="14213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289304" y="403250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</a:rPr>
              <a:t>CAA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499616" y="3703320"/>
            <a:ext cx="109728" cy="109728"/>
          </a:xfrm>
          <a:prstGeom prst="ellipse">
            <a:avLst/>
          </a:prstGeom>
          <a:solidFill>
            <a:srgbClr val="14213D"/>
          </a:solidFill>
          <a:ln w="15875">
            <a:solidFill>
              <a:srgbClr val="14213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655064" y="3648456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</a:rPr>
              <a:t>Athletes First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956816" y="3319272"/>
            <a:ext cx="109728" cy="109728"/>
          </a:xfrm>
          <a:prstGeom prst="ellipse">
            <a:avLst/>
          </a:prstGeom>
          <a:solidFill>
            <a:srgbClr val="14213D"/>
          </a:solidFill>
          <a:ln w="15875">
            <a:solidFill>
              <a:srgbClr val="14213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112264" y="326440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</a:rPr>
              <a:t>Octagon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316736" y="2935224"/>
            <a:ext cx="109728" cy="109728"/>
          </a:xfrm>
          <a:prstGeom prst="ellipse">
            <a:avLst/>
          </a:prstGeom>
          <a:solidFill>
            <a:srgbClr val="14213D"/>
          </a:solidFill>
          <a:ln w="15875">
            <a:solidFill>
              <a:srgbClr val="14213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472184" y="288036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</a:rPr>
              <a:t>The Team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414016" y="3831336"/>
            <a:ext cx="109728" cy="109728"/>
          </a:xfrm>
          <a:prstGeom prst="ellipse">
            <a:avLst/>
          </a:prstGeom>
          <a:solidFill>
            <a:srgbClr val="2F6F73"/>
          </a:solidFill>
          <a:ln w="15875">
            <a:solidFill>
              <a:srgbClr val="2F6F7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569464" y="3776472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</a:rPr>
              <a:t>Kauffman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688336" y="2807208"/>
            <a:ext cx="109728" cy="109728"/>
          </a:xfrm>
          <a:prstGeom prst="ellipse">
            <a:avLst/>
          </a:prstGeom>
          <a:solidFill>
            <a:srgbClr val="2F6F73"/>
          </a:solidFill>
          <a:ln w="15875">
            <a:solidFill>
              <a:srgbClr val="2F6F7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843784" y="275234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</a:rPr>
              <a:t>Coaches Inc.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054096" y="2359152"/>
            <a:ext cx="109728" cy="109728"/>
          </a:xfrm>
          <a:prstGeom prst="ellipse">
            <a:avLst/>
          </a:prstGeom>
          <a:solidFill>
            <a:srgbClr val="2F6F73"/>
          </a:solidFill>
          <a:ln w="15875">
            <a:solidFill>
              <a:srgbClr val="2F6F7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209544" y="230428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</a:rPr>
              <a:t>BDS Agency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2139696" y="2487168"/>
            <a:ext cx="109728" cy="10972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4213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2295144" y="243230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</a:rPr>
              <a:t>Parker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773936" y="2103120"/>
            <a:ext cx="109728" cy="10972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4213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929384" y="2048256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</a:rPr>
              <a:t>TurnkeyZRG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480560" y="1682496"/>
            <a:ext cx="182880" cy="182880"/>
          </a:xfrm>
          <a:prstGeom prst="ellipse">
            <a:avLst/>
          </a:prstGeom>
          <a:solidFill>
            <a:srgbClr val="C9A227"/>
          </a:solidFill>
          <a:ln w="15875">
            <a:solidFill>
              <a:srgbClr val="C9A227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709160" y="166420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213D"/>
                </a:solidFill>
              </a:rPr>
              <a:t>Dexter Sports Co.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914400" y="1143000"/>
            <a:ext cx="100584" cy="100584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60704" y="108813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</a:rPr>
              <a:t>Elite agents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2514600" y="1143000"/>
            <a:ext cx="100584" cy="100584"/>
          </a:xfrm>
          <a:prstGeom prst="ellipse">
            <a:avLst/>
          </a:prstGeom>
          <a:solidFill>
            <a:srgbClr val="2F6F73"/>
          </a:solidFill>
          <a:ln w="12700">
            <a:solidFill>
              <a:srgbClr val="2F6F73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60904" y="108813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</a:rPr>
              <a:t>Boutique coach agents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4114800" y="1143000"/>
            <a:ext cx="100584" cy="1005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261104" y="108813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</a:rPr>
              <a:t>School-paid search firms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5897880" y="1463040"/>
            <a:ext cx="0" cy="731520"/>
          </a:xfrm>
          <a:prstGeom prst="line">
            <a:avLst/>
          </a:prstGeom>
          <a:noFill/>
          <a:ln w="31750">
            <a:solidFill>
              <a:srgbClr val="C9A227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035040" y="143560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~2/3</a:t>
            </a:r>
            <a:endParaRPr lang="en-US" sz="2200" dirty="0"/>
          </a:p>
        </p:txBody>
      </p:sp>
      <p:sp>
        <p:nvSpPr>
          <p:cNvPr id="38" name="Text 36"/>
          <p:cNvSpPr txBox="1"/>
          <p:nvPr/>
        </p:nvSpPr>
        <p:spPr>
          <a:xfrm>
            <a:off x="6035040" y="181051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</a:rPr>
              <a:t>of full-time assistant coaches are women: the pipeline we serve*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5897880" y="2423160"/>
            <a:ext cx="0" cy="731520"/>
          </a:xfrm>
          <a:prstGeom prst="line">
            <a:avLst/>
          </a:prstGeom>
          <a:noFill/>
          <a:ln w="31750">
            <a:solidFill>
              <a:srgbClr val="C9A227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035040" y="239572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46%</a:t>
            </a:r>
            <a:endParaRPr lang="en-US" sz="2200" dirty="0"/>
          </a:p>
        </p:txBody>
      </p:sp>
      <p:sp>
        <p:nvSpPr>
          <p:cNvPr id="41" name="Text 39"/>
          <p:cNvSpPr txBox="1"/>
          <p:nvPr/>
        </p:nvSpPr>
        <p:spPr>
          <a:xfrm>
            <a:off x="6035040" y="27706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</a:rPr>
              <a:t>of coaches for women's college teams are women (2024); just 6 in 100 for men's teams*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897880" y="3383280"/>
            <a:ext cx="0" cy="731520"/>
          </a:xfrm>
          <a:prstGeom prst="line">
            <a:avLst/>
          </a:prstGeom>
          <a:noFill/>
          <a:ln w="31750">
            <a:solidFill>
              <a:srgbClr val="C9A227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035040" y="33558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$7B</a:t>
            </a:r>
            <a:endParaRPr lang="en-US" sz="2200" dirty="0"/>
          </a:p>
        </p:txBody>
      </p:sp>
      <p:sp>
        <p:nvSpPr>
          <p:cNvPr id="44" name="Text 42"/>
          <p:cNvSpPr txBox="1"/>
          <p:nvPr/>
        </p:nvSpPr>
        <p:spPr>
          <a:xfrm>
            <a:off x="6035040" y="373075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</a:rPr>
              <a:t>CAA valuation in 2023, up from $1.1B in 2014. Capital is paying for rosters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457200" y="48463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</a:rPr>
              <a:t>Positioning is illustrative. *The Collective Think Tank, Women in NCAA Intercollegiate Athletics: The Legacy Revisited (2026), via WIA Report. CAA: Sportico, Pollstar.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A227"/>
                </a:solidFill>
              </a:rPr>
              <a:t>WHO WE COMPETE WITH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Capital is flowing into representation</a:t>
            </a:r>
            <a:endParaRPr lang="en-US" sz="2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645920"/>
                <a:gridCol w="1554480"/>
                <a:gridCol w="329184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Company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Model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Scale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Reported financials / transactions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F2937"/>
                          </a:solidFill>
                        </a:rPr>
                        <a:t>CAA Sports</a:t>
                      </a:r>
                      <a:endParaRPr lang="en-US" sz="8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</a:rPr>
                        <a:t>Elite agent, ~3–4%</a:t>
                      </a:r>
                      <a:endParaRPr lang="en-US" sz="8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</a:rPr>
                        <a:t>50+ FBS coaches</a:t>
                      </a:r>
                      <a:endParaRPr lang="en-US" sz="8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</a:rPr>
                        <a:t>~$578M sports revenue (2024); ~$7B valuation in 2023 Artémis deal</a:t>
                      </a:r>
                      <a:endParaRPr lang="en-US" sz="8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F2937"/>
                          </a:solidFill>
                        </a:rPr>
                        <a:t>The Team (ex-Wasserman)</a:t>
                      </a:r>
                      <a:endParaRPr lang="en-US" sz="8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</a:rPr>
                        <a:t>Elite agent</a:t>
                      </a:r>
                      <a:endParaRPr lang="en-US" sz="8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</a:rPr>
                        <a:t>~4,000 staff</a:t>
                      </a:r>
                      <a:endParaRPr lang="en-US" sz="8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</a:rPr>
                        <a:t>#2 sports agency; Providence Equity founder buyout (Jul 2026)</a:t>
                      </a:r>
                      <a:endParaRPr lang="en-US" sz="8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F2937"/>
                          </a:solidFill>
                        </a:rPr>
                        <a:t>Athletes First</a:t>
                      </a:r>
                      <a:endParaRPr lang="en-US" sz="8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</a:rPr>
                        <a:t>Athlete &amp; coach agent</a:t>
                      </a:r>
                      <a:endParaRPr lang="en-US" sz="8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</a:rPr>
                        <a:t>450+ clients</a:t>
                      </a:r>
                      <a:endParaRPr lang="en-US" sz="8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</a:rPr>
                        <a:t>$50M valuation (2015); VC-led majority buyout since</a:t>
                      </a:r>
                      <a:endParaRPr lang="en-US" sz="8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F2937"/>
                          </a:solidFill>
                        </a:rPr>
                        <a:t>The BDS Agency</a:t>
                      </a:r>
                      <a:endParaRPr lang="en-US" sz="8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</a:rPr>
                        <a:t>Boutique coach agent</a:t>
                      </a:r>
                      <a:endParaRPr lang="en-US" sz="8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</a:rPr>
                        <a:t>200+ D-I renegotiations</a:t>
                      </a:r>
                      <a:endParaRPr lang="en-US" sz="8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</a:rPr>
                        <a:t>Private; none reported. Closest comp</a:t>
                      </a:r>
                      <a:endParaRPr lang="en-US" sz="8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F2937"/>
                          </a:solidFill>
                        </a:rPr>
                        <a:t>Parker Executive Search</a:t>
                      </a:r>
                      <a:endParaRPr lang="en-US" sz="8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</a:rPr>
                        <a:t>School-paid search</a:t>
                      </a:r>
                      <a:endParaRPr lang="en-US" sz="8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</a:rPr>
                        <a:t>1,750+ searches</a:t>
                      </a:r>
                      <a:endParaRPr lang="en-US" sz="8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</a:rPr>
                        <a:t>$60K–$120K per head-coach search</a:t>
                      </a:r>
                      <a:endParaRPr lang="en-US" sz="8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F2937"/>
                          </a:solidFill>
                        </a:rPr>
                        <a:t>TurnkeyZRG</a:t>
                      </a:r>
                      <a:endParaRPr lang="en-US" sz="8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</a:rPr>
                        <a:t>School-paid search</a:t>
                      </a:r>
                      <a:endParaRPr lang="en-US" sz="8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</a:rPr>
                        <a:t>200+ athletics searches</a:t>
                      </a:r>
                      <a:endParaRPr lang="en-US" sz="8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</a:rPr>
                        <a:t>Acquired by PE-backed ZRG (2021)</a:t>
                      </a:r>
                      <a:endParaRPr lang="en-US" sz="8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F2937"/>
                          </a:solidFill>
                        </a:rPr>
                        <a:t>Opendorse</a:t>
                      </a:r>
                      <a:endParaRPr lang="en-US" sz="8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</a:rPr>
                        <a:t>NIL platform</a:t>
                      </a:r>
                      <a:endParaRPr lang="en-US" sz="8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</a:rPr>
                        <a:t>100K+ athletes</a:t>
                      </a:r>
                      <a:endParaRPr lang="en-US" sz="8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</a:rPr>
                        <a:t>~$26M–$40M raised; $20M round (2022)</a:t>
                      </a:r>
                      <a:endParaRPr lang="en-US" sz="8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4213D"/>
                          </a:solidFill>
                        </a:rPr>
                        <a:t>Dexter Sports Co.</a:t>
                      </a:r>
                      <a:endParaRPr lang="en-US" sz="8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213D"/>
                          </a:solidFill>
                        </a:rPr>
                        <a:t>Coach agent + placement desk</a:t>
                      </a:r>
                      <a:endParaRPr lang="en-US" sz="8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213D"/>
                          </a:solidFill>
                        </a:rPr>
                        <a:t>Women coaches, all sports</a:t>
                      </a:r>
                      <a:endParaRPr lang="en-US" sz="8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4213D"/>
                          </a:solidFill>
                        </a:rPr>
                        <a:t>3% fee, $6K floor; seed stage</a:t>
                      </a:r>
                      <a:endParaRPr lang="en-US" sz="8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867912"/>
            <a:ext cx="54864" cy="32918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4343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2F6F73"/>
                </a:solidFill>
              </a:rPr>
              <a:t>Our edge: founder with a Juris Masters in contracting &amp; compliance, a decade of corporate partnerships and major gifts, SEC university advancement experience, and a D-I playing career.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8463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</a:rPr>
              <a:t>Sources: Sportico, Pollstar, SportsBusiness Journal, Front Office Sports, CBS Sports, Hunt Scanlon, SportBusiness, company sites. Private firms do not report financials.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2026-10-07T18:46:11Z</dcterms:created>
  <dcterms:modified xsi:type="dcterms:W3CDTF">2026-10-07T18:46:11Z</dcterms:modified>
</cp:coreProperties>
</file>