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1A24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41A24"/>
                </a:solidFill>
                <a:latin typeface="Arial"/>
              </a:rPr>
              <a:t>Total Revenue — Base vs. Upside ($000s)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114</c:v>
                </c:pt>
                <c:pt idx="1">
                  <c:v>200</c:v>
                </c:pt>
                <c:pt idx="2">
                  <c:v>370</c:v>
                </c:pt>
                <c:pt idx="3">
                  <c:v>460</c:v>
                </c:pt>
                <c:pt idx="4">
                  <c:v>574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case</c:v>
                </c:pt>
              </c:strCache>
            </c:strRef>
          </c:tx>
          <c:spPr>
            <a:solidFill>
              <a:srgbClr val="D4A6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171</c:v>
                </c:pt>
                <c:pt idx="1">
                  <c:v>274</c:v>
                </c:pt>
                <c:pt idx="2">
                  <c:v>465</c:v>
                </c:pt>
                <c:pt idx="3">
                  <c:v>582</c:v>
                </c:pt>
                <c:pt idx="4">
                  <c:v>729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EF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28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B7280"/>
                    </a:solidFill>
                    <a:latin typeface="Arial"/>
                  </a:rPr>
                  <a:t>Revenue ($000s)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41A2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3-1.png"/><Relationship Id="rId3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-548640"/>
            <a:ext cx="5943600" cy="786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3000" b="1" dirty="0">
                <a:solidFill>
                  <a:srgbClr val="12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43000" dirty="0"/>
          </a:p>
        </p:txBody>
      </p:sp>
      <p:sp>
        <p:nvSpPr>
          <p:cNvPr id="3" name="Shape 1"/>
          <p:cNvSpPr/>
          <p:nvPr/>
        </p:nvSpPr>
        <p:spPr>
          <a:xfrm>
            <a:off x="777240" y="594360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5760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62456" y="576072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</a:t>
            </a:r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Sports Co.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200" b="1" spc="200" kern="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REPRESENTATION</a:t>
            </a:r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200" b="1" spc="200" kern="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GUIDANCE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4672" y="22860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the talent.
</a:t>
            </a:r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the opportunity.
</a:t>
            </a:r>
            <a:pPr indent="0" marL="0">
              <a:lnSpc>
                <a:spcPct val="102000"/>
              </a:lnSpc>
              <a:buNone/>
            </a:pPr>
            <a:r>
              <a:rPr lang="en-US" sz="4600" i="1" dirty="0">
                <a:solidFill>
                  <a:srgbClr val="93B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what lasts.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advocate for coaches — especially women coaches and the assistants the big agencies overlook — and for athletes and families navigating NIL.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5989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INVESTMENT OVERVIEW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Women-Owned Social Enterprise   ·   Confidential 2026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coaches the big agencies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overlook.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3657600" cy="3977640"/>
          </a:xfrm>
          <a:prstGeom prst="roundRect">
            <a:avLst>
              <a:gd name="adj" fmla="val 3000"/>
            </a:avLst>
          </a:prstGeom>
          <a:solidFill>
            <a:srgbClr val="0B122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3317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30632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$500K–$5M+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1005840" y="38404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collegiate head-coaching salary range.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05840" y="48920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D4A6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single placement at up to 3% is a meaningful, repeatable fee.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011680"/>
            <a:ext cx="47548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947672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Female coaches are underrepresented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5440680" y="2377440"/>
            <a:ext cx="5989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fill the assistant pipeline but rarely reach the top jobs. Dedicated, outcomes-focused representation is scarce.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709160" y="3172968"/>
            <a:ext cx="6766560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3383280"/>
            <a:ext cx="475488" cy="4754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40680" y="3319272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has reached high school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5440680" y="3749040"/>
            <a:ext cx="5989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and South Carolina now permit HS NIL — a first-mover market for athletes and families navigating offers.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709160" y="4544568"/>
            <a:ext cx="6766560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4754880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40680" y="4690872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is fragmented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5440680" y="5120640"/>
            <a:ext cx="5989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Coaches and athletes manage contracts, brand, and career moves with little integrated, values-aligned support.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pPr indent="0" marL="0">
              <a:buNone/>
            </a:pPr>
            <a:r>
              <a:rPr lang="en-US" sz="850" dirty="0">
                <a:solidFill>
                  <a:srgbClr val="AEB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The Opportunity</a:t>
            </a:r>
            <a:endParaRPr lang="en-US" sz="850" dirty="0"/>
          </a:p>
        </p:txBody>
      </p:sp>
      <p:sp>
        <p:nvSpPr>
          <p:cNvPr id="21" name="Text 15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EXIST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pipeline that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stalls before the top.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fill the assistant-coach pipeline but rarely reach the head jobs — representation is scarcest exactly there.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4231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92608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~2/3</a:t>
            </a:r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*</a:t>
            </a:r>
            <a:endParaRPr lang="en-US" sz="3100" dirty="0"/>
          </a:p>
        </p:txBody>
      </p:sp>
      <p:sp>
        <p:nvSpPr>
          <p:cNvPr id="8" name="Text 5"/>
          <p:cNvSpPr/>
          <p:nvPr/>
        </p:nvSpPr>
        <p:spPr>
          <a:xfrm>
            <a:off x="941832" y="352044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full-time assistant coaches are women — the pipeline we serve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529584" y="21488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904" y="242316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58184" y="292608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*</a:t>
            </a:r>
            <a:endParaRPr lang="en-US" sz="3100" dirty="0"/>
          </a:p>
        </p:txBody>
      </p:sp>
      <p:sp>
        <p:nvSpPr>
          <p:cNvPr id="12" name="Text 8"/>
          <p:cNvSpPr/>
          <p:nvPr/>
        </p:nvSpPr>
        <p:spPr>
          <a:xfrm>
            <a:off x="3785616" y="352044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coaches on women's college teams are women (2024) — below the 1980s peak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373368" y="21488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242316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601968" y="292608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7.3%</a:t>
            </a:r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*</a:t>
            </a:r>
            <a:endParaRPr lang="en-US" sz="3100" dirty="0"/>
          </a:p>
        </p:txBody>
      </p:sp>
      <p:sp>
        <p:nvSpPr>
          <p:cNvPr id="16" name="Text 11"/>
          <p:cNvSpPr/>
          <p:nvPr/>
        </p:nvSpPr>
        <p:spPr>
          <a:xfrm>
            <a:off x="6629400" y="352044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women's-team head coaches are women of color; 44% of D-I schools employ none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217152" y="21488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472" y="2423160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445752" y="292608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/ 55%</a:t>
            </a:r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*</a:t>
            </a:r>
            <a:endParaRPr lang="en-US" sz="3100" dirty="0"/>
          </a:p>
        </p:txBody>
      </p:sp>
      <p:sp>
        <p:nvSpPr>
          <p:cNvPr id="20" name="Text 14"/>
          <p:cNvSpPr/>
          <p:nvPr/>
        </p:nvSpPr>
        <p:spPr>
          <a:xfrm>
            <a:off x="9473184" y="352044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are 43% of varsity athletes but 55% of undergraduates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85800" y="4617720"/>
            <a:ext cx="10817352" cy="1280160"/>
          </a:xfrm>
          <a:prstGeom prst="roundRect">
            <a:avLst>
              <a:gd name="adj" fmla="val 8571"/>
            </a:avLst>
          </a:prstGeom>
          <a:solidFill>
            <a:srgbClr val="0B1220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956048"/>
            <a:ext cx="566928" cy="56692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874520" y="4773168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pipeline, a narrow top. 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agencies compete for Power-conference head coaches and star athletes. Women coaches and mid-career assistants — especially at mid-major, D-II and D-III, and in sports beyond basketball — rarely get an advocate. That's who Dexter is built for.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685800" y="6455664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The Collective Think Tank, Women in NCAA Intercollegiate Athletics (2026), via WIA Report.  ** Tucker Center / WeCOACH, Women in College Coaching Report Card 2025–26 (94 D-I schools). Populations differ: Tucker covers D-I head coaches; the Collective Think Tank covers all coaches across 1,000+ schools.</a:t>
            </a:r>
            <a:endParaRPr lang="en-US" sz="700" dirty="0"/>
          </a:p>
        </p:txBody>
      </p:sp>
      <p:sp>
        <p:nvSpPr>
          <p:cNvPr id="25" name="Text 18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middle of the market is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wide open.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giants fight over the top. Dexter owns the underserved middle — women coaches and assistants, mid-major to D-III.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2743200" cy="2286000"/>
          </a:xfrm>
          <a:prstGeom prst="roundRect">
            <a:avLst>
              <a:gd name="adj" fmla="val 480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103120"/>
            <a:ext cx="2743200" cy="548640"/>
          </a:xfrm>
          <a:prstGeom prst="roundRect">
            <a:avLst>
              <a:gd name="adj" fmla="val 20000"/>
            </a:avLst>
          </a:prstGeom>
          <a:solidFill>
            <a:srgbClr val="0B122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121408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Elite agents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7614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Power-5 heads &amp; pro stars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68680" y="3154680"/>
            <a:ext cx="2377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
</a:t>
            </a:r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Athletes First
</a:t>
            </a:r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Octagon
</a:t>
            </a:r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
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0" y="2103120"/>
            <a:ext cx="2743200" cy="2286000"/>
          </a:xfrm>
          <a:prstGeom prst="roundRect">
            <a:avLst>
              <a:gd name="adj" fmla="val 480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0" y="2103120"/>
            <a:ext cx="2743200" cy="54864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3794760" y="2121408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Women-founded boutiques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40480" y="27614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Niche by sport / role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0" y="3154680"/>
            <a:ext cx="2377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KMM Sports
</a:t>
            </a:r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OneForOne
</a:t>
            </a:r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Spisak
</a:t>
            </a:r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BDS Agency
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29400" y="2103120"/>
            <a:ext cx="2743200" cy="2286000"/>
          </a:xfrm>
          <a:prstGeom prst="roundRect">
            <a:avLst>
              <a:gd name="adj" fmla="val 480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29400" y="2103120"/>
            <a:ext cx="2743200" cy="548640"/>
          </a:xfrm>
          <a:prstGeom prst="roundRect">
            <a:avLst>
              <a:gd name="adj" fmla="val 20000"/>
            </a:avLst>
          </a:prstGeom>
          <a:solidFill>
            <a:srgbClr val="6B728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2121408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School-paid search firms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12280" y="27614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$25K–120K / search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812280" y="3154680"/>
            <a:ext cx="2377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Parker
</a:t>
            </a:r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TurnkeyZRG
</a:t>
            </a:r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Collegiate Sports
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601200" y="2103120"/>
            <a:ext cx="1901952" cy="2286000"/>
          </a:xfrm>
          <a:prstGeom prst="roundRect">
            <a:avLst>
              <a:gd name="adj" fmla="val 5769"/>
            </a:avLst>
          </a:prstGeom>
          <a:solidFill>
            <a:srgbClr val="0B1220"/>
          </a:solidFill>
          <a:ln w="25400">
            <a:solidFill>
              <a:srgbClr val="D4A62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0152" y="2331720"/>
            <a:ext cx="384048" cy="38404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601200" y="278892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9710928" y="3154680"/>
            <a:ext cx="168249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coaches &amp; assistants, all sports, mid-major → D-III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681728"/>
            <a:ext cx="365760" cy="36576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280160" y="46634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Power-5 heads &amp; men's-led  </a:t>
            </a:r>
            <a:pPr indent="0" marL="0">
              <a:buNone/>
            </a:pPr>
            <a:r>
              <a:rPr lang="en-US" sz="13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assistants, mid-major, D-II/III</a:t>
            </a:r>
            <a:endParaRPr lang="en-US" sz="13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340096"/>
            <a:ext cx="365760" cy="36576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280160" y="532180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Football &amp; basketball  </a:t>
            </a:r>
            <a:pPr indent="0" marL="0">
              <a:buNone/>
            </a:pPr>
            <a:r>
              <a:rPr lang="en-US" sz="13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women's &amp; all sports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685800" y="6473952"/>
            <a:ext cx="10789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is illustrative. Sources: Sportico, Pollstar, Front Office Sports, Hunt Scanlon; coaching-equity data per The Collective Think Tank (2026) and Tucker Center / WeCOACH (2025–26).</a:t>
            </a:r>
            <a:endParaRPr lang="en-US" sz="700" dirty="0"/>
          </a:p>
        </p:txBody>
      </p:sp>
      <p:sp>
        <p:nvSpPr>
          <p:cNvPr id="29" name="Text 24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COMPETE WITH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is flowing into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Boutiques with defensible rosters are acquisition targets — a credible exit path for Dexter.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2286000" cy="420624"/>
          </a:xfrm>
          <a:prstGeom prst="rect">
            <a:avLst/>
          </a:prstGeom>
          <a:solidFill>
            <a:srgbClr val="0B1220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2057400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71800" y="2057400"/>
            <a:ext cx="2286000" cy="420624"/>
          </a:xfrm>
          <a:prstGeom prst="rect">
            <a:avLst/>
          </a:prstGeom>
          <a:solidFill>
            <a:srgbClr val="0B1220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81528" y="2057400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257800" y="2057400"/>
            <a:ext cx="2377440" cy="420624"/>
          </a:xfrm>
          <a:prstGeom prst="rect">
            <a:avLst/>
          </a:prstGeom>
          <a:solidFill>
            <a:srgbClr val="0B1220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67528" y="205740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635240" y="2057400"/>
            <a:ext cx="3867912" cy="420624"/>
          </a:xfrm>
          <a:prstGeom prst="rect">
            <a:avLst/>
          </a:prstGeom>
          <a:solidFill>
            <a:srgbClr val="0B1220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44968" y="2057400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financials / transactions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2478024"/>
            <a:ext cx="228600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478024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 Sports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71800" y="2478024"/>
            <a:ext cx="228600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81528" y="2478024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Elite agent, ~3–4%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257800" y="2478024"/>
            <a:ext cx="237744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67528" y="247802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FBS coaches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35240" y="2478024"/>
            <a:ext cx="3867912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44968" y="2478024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~$578M sports revenue; ~$7B valuation (2023)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85800" y="2898648"/>
            <a:ext cx="22860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289864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Athletes First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971800" y="2898648"/>
            <a:ext cx="22860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81528" y="289864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Athlete &amp; coach agent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257800" y="2898648"/>
            <a:ext cx="23774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67528" y="289864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450+ clients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635240" y="2898648"/>
            <a:ext cx="386791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44968" y="2898648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$50M val. (2015) → VC majority, well above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5800" y="3319272"/>
            <a:ext cx="228600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" y="3319272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BDS Agency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71800" y="3319272"/>
            <a:ext cx="228600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1528" y="3319272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Boutique coach agent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257800" y="3319272"/>
            <a:ext cx="237744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67528" y="3319272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D-I renegotiations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635240" y="3319272"/>
            <a:ext cx="3867912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44968" y="3319272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Private; none reported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85800" y="3739896"/>
            <a:ext cx="22860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5528" y="3739896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Parker Executive Search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971800" y="3739896"/>
            <a:ext cx="22860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1528" y="3739896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School-paid search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57800" y="3739896"/>
            <a:ext cx="23774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67528" y="3739896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1,750+ searches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635240" y="3739896"/>
            <a:ext cx="386791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44968" y="3739896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$60K–$120K per head-coach search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85800" y="4160520"/>
            <a:ext cx="228600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95528" y="4160520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Opendorse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971800" y="4160520"/>
            <a:ext cx="228600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1528" y="4160520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platform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257800" y="4160520"/>
            <a:ext cx="237744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67528" y="41605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 athletes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635240" y="4160520"/>
            <a:ext cx="3867912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744968" y="4160520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~$26M–$40M raised; $20M round (2022)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85800" y="4581144"/>
            <a:ext cx="22860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95528" y="4581144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KMM Sports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971800" y="4581144"/>
            <a:ext cx="22860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081528" y="4581144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Women-founded, attorney/NFLPA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257800" y="4581144"/>
            <a:ext cx="23774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367528" y="458114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 → pro &amp; Olympic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635240" y="4581144"/>
            <a:ext cx="386791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44968" y="4581144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Private; 2026 Borchetta platform partnership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85800" y="5001768"/>
            <a:ext cx="2286000" cy="420624"/>
          </a:xfrm>
          <a:prstGeom prst="rect">
            <a:avLst/>
          </a:prstGeom>
          <a:solidFill>
            <a:srgbClr val="E7EE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5528" y="500176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D4F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2971800" y="5001768"/>
            <a:ext cx="2286000" cy="420624"/>
          </a:xfrm>
          <a:prstGeom prst="rect">
            <a:avLst/>
          </a:prstGeom>
          <a:solidFill>
            <a:srgbClr val="E7EE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081528" y="500176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D4F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rep + NIL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5257800" y="5001768"/>
            <a:ext cx="2377440" cy="420624"/>
          </a:xfrm>
          <a:prstGeom prst="rect">
            <a:avLst/>
          </a:prstGeom>
          <a:solidFill>
            <a:srgbClr val="E7EE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67528" y="500176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D4F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coaches, all sports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7635240" y="5001768"/>
            <a:ext cx="3867912" cy="420624"/>
          </a:xfrm>
          <a:prstGeom prst="rect">
            <a:avLst/>
          </a:prstGeom>
          <a:solidFill>
            <a:srgbClr val="E7EE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744968" y="5001768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D4F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fee, $6K floor; search-desk line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edge: a founder with a Juris Master in contracting &amp; compliance (FSU), a decade of corporate partnerships and major gifts, and SEC-university advancement experience — building the agency women coaches haven't had.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685800" y="6547104"/>
            <a:ext cx="10789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Sportico, Pollstar, SportsBusiness Journal, Front Office Sports, CBS Sports, Hunt Scanlon, company sites. Private firms marked none reported.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CLOSEST PEERS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cohort of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women-founded agencies.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truest comps aren't the giants — they're founder-led, women-built agencies. Each owns a niche; none owns ours.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3630168" cy="2514600"/>
          </a:xfrm>
          <a:prstGeom prst="roundRect">
            <a:avLst>
              <a:gd name="adj" fmla="val 4364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441448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423160"/>
            <a:ext cx="2624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KMM Sports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54480" y="2770632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Oklahoma City · est. 2005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978408" y="3200400"/>
            <a:ext cx="30815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Attorney &amp; NFLPA-certified founder (Kelli Masters). Full-service, HS → pro &amp; Olympic. 'Represent the whole person.'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978408" y="4206240"/>
            <a:ext cx="304495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4206240"/>
            <a:ext cx="3044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&amp; NFL athletes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79392" y="2148840"/>
            <a:ext cx="3630168" cy="2514600"/>
          </a:xfrm>
          <a:prstGeom prst="roundRect">
            <a:avLst>
              <a:gd name="adj" fmla="val 4364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441448"/>
            <a:ext cx="438912" cy="4389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48072" y="2423160"/>
            <a:ext cx="2624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OneForOne Agency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148072" y="2770632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Female athletes · brands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4572000" y="3200400"/>
            <a:ext cx="30815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Female-founded, female-supported. Bridges brands and female athletes with creative &amp; marketing services.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72000" y="4206240"/>
            <a:ext cx="304495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572000" y="4206240"/>
            <a:ext cx="3044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&amp; brand deals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7872984" y="2148840"/>
            <a:ext cx="3630168" cy="2514600"/>
          </a:xfrm>
          <a:prstGeom prst="roundRect">
            <a:avLst>
              <a:gd name="adj" fmla="val 4364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2441448"/>
            <a:ext cx="438912" cy="4389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741664" y="2423160"/>
            <a:ext cx="2624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Spisak Agency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8741664" y="2770632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Washington, DC · NWSL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8165592" y="3200400"/>
            <a:ext cx="30815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'By women. For women.' Founded by pro soccer star &amp; coach KJ Spisak. Representation, advocacy, brand building.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8165592" y="4206240"/>
            <a:ext cx="304495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165592" y="4206240"/>
            <a:ext cx="3044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Women's soccer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685800" y="4892040"/>
            <a:ext cx="10817352" cy="1005840"/>
          </a:xfrm>
          <a:prstGeom prst="roundRect">
            <a:avLst>
              <a:gd name="adj" fmla="val 10909"/>
            </a:avLst>
          </a:prstGeom>
          <a:solidFill>
            <a:srgbClr val="0B1220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5166360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691640" y="5029200"/>
            <a:ext cx="9509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Dexter's open lane: 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coaches and assistants (not just athletes), across all sports, at mid-major / D-II / D-III, plus NIL for Carolina athletes and families. No peer combines coach representation, NIL, and this geography.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685800" y="6547104"/>
            <a:ext cx="10789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sites; Shore Fire Media; Soccer America; Adweek Most Powerful Women in Sports 2026. Private firms report no financials.</a:t>
            </a:r>
            <a:endParaRPr lang="en-US" sz="700" dirty="0"/>
          </a:p>
        </p:txBody>
      </p:sp>
      <p:sp>
        <p:nvSpPr>
          <p:cNvPr id="30" name="Text 24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 OF FOCUS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peers sit — and where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focus.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women-founded peers are coastal and pro-oriented. Dexter anchors the Carolinas and the Southeast college market.</a:t>
            </a:r>
            <a:endParaRPr lang="en-US" sz="1350" dirty="0"/>
          </a:p>
        </p:txBody>
      </p:sp>
      <p:pic>
        <p:nvPicPr>
          <p:cNvPr id="5" name="Image 0" descr="/home/claude/us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83080"/>
            <a:ext cx="8321040" cy="43708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98280" y="19659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BASE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116568" y="2404872"/>
            <a:ext cx="182880" cy="182880"/>
          </a:xfrm>
          <a:prstGeom prst="ellipse">
            <a:avLst/>
          </a:prstGeom>
          <a:solidFill>
            <a:srgbClr val="D4A62A"/>
          </a:solidFill>
          <a:ln/>
        </p:spPr>
      </p:sp>
      <p:sp>
        <p:nvSpPr>
          <p:cNvPr id="8" name="Text 5"/>
          <p:cNvSpPr/>
          <p:nvPr/>
        </p:nvSpPr>
        <p:spPr>
          <a:xfrm>
            <a:off x="9418320" y="232257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KMM Sports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418320" y="25603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Oklahoma City, OK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9116568" y="2971800"/>
            <a:ext cx="182880" cy="182880"/>
          </a:xfrm>
          <a:prstGeom prst="ellipse">
            <a:avLst/>
          </a:prstGeom>
          <a:solidFill>
            <a:srgbClr val="D4A62A"/>
          </a:solidFill>
          <a:ln/>
        </p:spPr>
      </p:sp>
      <p:sp>
        <p:nvSpPr>
          <p:cNvPr id="11" name="Text 8"/>
          <p:cNvSpPr/>
          <p:nvPr/>
        </p:nvSpPr>
        <p:spPr>
          <a:xfrm>
            <a:off x="9418320" y="288950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Spisak Agency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312724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Washington, DC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9116568" y="3538728"/>
            <a:ext cx="182880" cy="182880"/>
          </a:xfrm>
          <a:prstGeom prst="ellipse">
            <a:avLst/>
          </a:prstGeom>
          <a:solidFill>
            <a:srgbClr val="D4A62A"/>
          </a:solidFill>
          <a:ln/>
        </p:spPr>
      </p:sp>
      <p:sp>
        <p:nvSpPr>
          <p:cNvPr id="14" name="Text 11"/>
          <p:cNvSpPr/>
          <p:nvPr/>
        </p:nvSpPr>
        <p:spPr>
          <a:xfrm>
            <a:off x="9418320" y="345643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Sports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418320" y="3694176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Angeles, CA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116568" y="4105656"/>
            <a:ext cx="182880" cy="1828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7" name="Text 14"/>
          <p:cNvSpPr/>
          <p:nvPr/>
        </p:nvSpPr>
        <p:spPr>
          <a:xfrm>
            <a:off x="9418320" y="4023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418320" y="4261104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Charlotte, NC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9116568" y="4672584"/>
            <a:ext cx="182880" cy="18288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0" name="Text 17"/>
          <p:cNvSpPr/>
          <p:nvPr/>
        </p:nvSpPr>
        <p:spPr>
          <a:xfrm>
            <a:off x="9418320" y="45902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OneForOne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418320" y="4828032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/ online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5532120"/>
            <a:ext cx="2487168" cy="868680"/>
          </a:xfrm>
          <a:prstGeom prst="roundRect">
            <a:avLst>
              <a:gd name="adj" fmla="val 10526"/>
            </a:avLst>
          </a:prstGeom>
          <a:solidFill>
            <a:srgbClr val="0B1220"/>
          </a:solidFill>
          <a:ln/>
        </p:spPr>
      </p:sp>
      <p:sp>
        <p:nvSpPr>
          <p:cNvPr id="23" name="Text 20"/>
          <p:cNvSpPr/>
          <p:nvPr/>
        </p:nvSpPr>
        <p:spPr>
          <a:xfrm>
            <a:off x="9281160" y="562356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edge: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own the Carolinas and the ACC/SEC/HBCU footprint no peer sits in.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85800" y="6547104"/>
            <a:ext cx="10789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locations per company sites, LinkedIn, and press. OneForOne publishes no single HQ. Shading marks each agency's home state, not its only market.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THIS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by a former </a:t>
            </a:r>
            <a:pPr indent="0" marL="0">
              <a:buNone/>
            </a:pPr>
            <a:r>
              <a:rPr lang="en-US" sz="2900" i="1" dirty="0">
                <a:solidFill>
                  <a:srgbClr val="93B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Division I athlete.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Contract-trained, partnership-tested. Kim Dexter's background maps onto exactly what competitors charge for.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2103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 Dexter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578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· Charlotte, NC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3017520"/>
            <a:ext cx="779069" cy="402336"/>
          </a:xfrm>
          <a:prstGeom prst="roundRect">
            <a:avLst>
              <a:gd name="adj" fmla="val 50000"/>
            </a:avLst>
          </a:prstGeom>
          <a:solidFill>
            <a:srgbClr val="121A2B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017520"/>
            <a:ext cx="77906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CFRE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647749" y="3017520"/>
            <a:ext cx="1905610" cy="402336"/>
          </a:xfrm>
          <a:prstGeom prst="roundRect">
            <a:avLst>
              <a:gd name="adj" fmla="val 50000"/>
            </a:avLst>
          </a:prstGeom>
          <a:solidFill>
            <a:srgbClr val="121A2B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7749" y="3017520"/>
            <a:ext cx="190561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JURIS MASTER · FSU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36238" y="3017520"/>
            <a:ext cx="1422806" cy="402336"/>
          </a:xfrm>
          <a:prstGeom prst="roundRect">
            <a:avLst>
              <a:gd name="adj" fmla="val 50000"/>
            </a:avLst>
          </a:prstGeom>
          <a:solidFill>
            <a:srgbClr val="121A2B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36238" y="3017520"/>
            <a:ext cx="142280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D-I · HOWARD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806440" y="2103120"/>
            <a:ext cx="2926080" cy="1783080"/>
          </a:xfrm>
          <a:prstGeom prst="roundRect">
            <a:avLst>
              <a:gd name="adj" fmla="val 5128"/>
            </a:avLst>
          </a:prstGeom>
          <a:solidFill>
            <a:srgbClr val="121A2B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2472" y="2359152"/>
            <a:ext cx="420624" cy="42062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062472" y="285292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&amp; contracting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062472" y="3200400"/>
            <a:ext cx="24140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Juris Master in risk management and compliance — she reviews and negotiates contracts, buyouts and NIL deals directly.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9052560" y="2103120"/>
            <a:ext cx="2926080" cy="1783080"/>
          </a:xfrm>
          <a:prstGeom prst="roundRect">
            <a:avLst>
              <a:gd name="adj" fmla="val 5128"/>
            </a:avLst>
          </a:prstGeom>
          <a:solidFill>
            <a:srgbClr val="121A2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8592" y="2359152"/>
            <a:ext cx="420624" cy="42062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9308592" y="285292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 &amp; gifts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9308592" y="3200400"/>
            <a:ext cx="24140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CFRE with 10+ years in major gifts, corporate partnerships and sponsorship — the second revenue line, as a core skill.</a:t>
            </a:r>
            <a:endParaRPr lang="en-US" sz="980" dirty="0"/>
          </a:p>
        </p:txBody>
      </p:sp>
      <p:sp>
        <p:nvSpPr>
          <p:cNvPr id="21" name="Shape 17"/>
          <p:cNvSpPr/>
          <p:nvPr/>
        </p:nvSpPr>
        <p:spPr>
          <a:xfrm>
            <a:off x="5806440" y="4069080"/>
            <a:ext cx="2926080" cy="1783080"/>
          </a:xfrm>
          <a:prstGeom prst="roundRect">
            <a:avLst>
              <a:gd name="adj" fmla="val 5128"/>
            </a:avLst>
          </a:prstGeom>
          <a:solidFill>
            <a:srgbClr val="121A2B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472" y="4325112"/>
            <a:ext cx="420624" cy="4206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062472" y="481888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a Power-5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6062472" y="5166360"/>
            <a:ext cx="24140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Associate Director of Development at Arkansas (SEC) — she knows how advancement, donors and ADs actually operate.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9052560" y="4069080"/>
            <a:ext cx="2926080" cy="1783080"/>
          </a:xfrm>
          <a:prstGeom prst="roundRect">
            <a:avLst>
              <a:gd name="adj" fmla="val 5128"/>
            </a:avLst>
          </a:prstGeom>
          <a:solidFill>
            <a:srgbClr val="121A2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4325112"/>
            <a:ext cx="420624" cy="42062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308592" y="481888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Athlete credibility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9308592" y="5166360"/>
            <a:ext cx="24140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former Howard volleyball student-athlete with a natural HBCU and women's-sports network the giants don't prioritize.</a:t>
            </a:r>
            <a:endParaRPr lang="en-US" sz="980" dirty="0"/>
          </a:p>
        </p:txBody>
      </p:sp>
      <p:sp>
        <p:nvSpPr>
          <p:cNvPr id="29" name="Text 23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Founder</a:t>
            </a:r>
            <a:endParaRPr lang="en-US" sz="850" dirty="0"/>
          </a:p>
        </p:txBody>
      </p:sp>
      <p:sp>
        <p:nvSpPr>
          <p:cNvPr id="30" name="Text 24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specialties.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advocate.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next contract to the first NIL offer — coach representation and NIL guidance are the co-equal core.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230368" cy="2331720"/>
          </a:xfrm>
          <a:prstGeom prst="roundRect">
            <a:avLst>
              <a:gd name="adj" fmla="val 4706"/>
            </a:avLst>
          </a:prstGeom>
          <a:solidFill>
            <a:srgbClr val="0B1220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37744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2563E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" y="2551176"/>
            <a:ext cx="429768" cy="4297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32918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Representation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60120" y="3675888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and career representation for head and assistant coaches in every sport — focused on the women and mid-career assistants the big agencies overlook.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72784" y="2103120"/>
            <a:ext cx="5230368" cy="2331720"/>
          </a:xfrm>
          <a:prstGeom prst="roundRect">
            <a:avLst>
              <a:gd name="adj" fmla="val 4706"/>
            </a:avLst>
          </a:prstGeom>
          <a:solidFill>
            <a:srgbClr val="2563EB"/>
          </a:solidFill>
          <a:ln/>
        </p:spPr>
      </p:sp>
      <p:sp>
        <p:nvSpPr>
          <p:cNvPr id="11" name="Shape 8"/>
          <p:cNvSpPr/>
          <p:nvPr/>
        </p:nvSpPr>
        <p:spPr>
          <a:xfrm>
            <a:off x="6547104" y="237744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1D4FD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551176"/>
            <a:ext cx="429768" cy="4297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47104" y="32918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&amp; Brand Partnerships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547104" y="3675888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7E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and deal management for athletes and families navigating NIL — a co-equal specialty and the lead engine for the Before You Sign toolkit.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85800" y="4709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 LINES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85800" y="5029200"/>
            <a:ext cx="5230368" cy="1051560"/>
          </a:xfrm>
          <a:prstGeom prst="roundRect">
            <a:avLst>
              <a:gd name="adj" fmla="val 869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14400" y="5239512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B1220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536752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5230368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Desk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645920" y="5577840"/>
            <a:ext cx="404164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Flat-fee searches for mid-major &amp; D-II/III — paid by the school.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272784" y="5029200"/>
            <a:ext cx="5230368" cy="1051560"/>
          </a:xfrm>
          <a:prstGeom prst="roundRect">
            <a:avLst>
              <a:gd name="adj" fmla="val 869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501384" y="5239512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B122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5367528"/>
            <a:ext cx="292608" cy="29260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32904" y="5230368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NFLPA Agent Rep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7232904" y="5577840"/>
            <a:ext cx="404164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 NFL players once Kim is certified — 3% of contract.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pPr indent="0" marL="0">
              <a:buNone/>
            </a:pPr>
            <a:r>
              <a:rPr lang="en-US" sz="850" dirty="0">
                <a:solidFill>
                  <a:srgbClr val="AEB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What We Do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and margin, </a:t>
            </a:r>
            <a:pPr indent="0" marL="0">
              <a:buNone/>
            </a:pPr>
            <a:r>
              <a:rPr lang="en-US" sz="2900" i="1" dirty="0">
                <a:solidFill>
                  <a:srgbClr val="93B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moving together.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53619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commercial model directly advances outcomes for women in sport — impact is embedded, not bolted 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3317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121A2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974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4290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Women-owned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41148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Founded and led by Kim Dexter — ownership and decisions rest with a woman operator in a male-dominated field.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529584" y="23317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121A2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624" y="269748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849624" y="34290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Female-coach outcomes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849624" y="41148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prioritize placing and advancing women into higher-paid, higher-visibility roles.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373368" y="23317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121A2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08" y="2697480"/>
            <a:ext cx="548640" cy="5486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693408" y="34290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Youth opportunity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693408" y="41148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guidance helps Carolina athletes and families — including young women — build value early and equitably.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9217152" y="23317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121A2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7192" y="2697480"/>
            <a:ext cx="548640" cy="5486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537192" y="34290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economics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9537192" y="41148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Success-based fees mean we win only when clients win. No conflict between doing well and doing good.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Social Enterprise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EARN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success-based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lines.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on both sides of the market — coaches and schools — plus two expansion lines.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10817352" cy="841248"/>
          </a:xfrm>
          <a:prstGeom prst="roundRect">
            <a:avLst>
              <a:gd name="adj" fmla="val 1087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4942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359152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18541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Representation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554480" y="253288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per placement across all levels — a floor protects revenue on lower-salary roles.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040880" y="2276856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3%, min $6K/hire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10012680" y="2295144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2" name="Text 9"/>
          <p:cNvSpPr/>
          <p:nvPr/>
        </p:nvSpPr>
        <p:spPr>
          <a:xfrm>
            <a:off x="10012680" y="2295144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85800" y="3044952"/>
            <a:ext cx="10817352" cy="841248"/>
          </a:xfrm>
          <a:prstGeom prst="roundRect">
            <a:avLst>
              <a:gd name="adj" fmla="val 1087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4400" y="32369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3346704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554480" y="317296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&amp; Brand Partnerships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554480" y="35204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and deal management for athletes and families — co-equal core line.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7040880" y="326440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facilitated deal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10012680" y="3282696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0" name="Text 16"/>
          <p:cNvSpPr/>
          <p:nvPr/>
        </p:nvSpPr>
        <p:spPr>
          <a:xfrm>
            <a:off x="10012680" y="3282696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685800" y="4032504"/>
            <a:ext cx="10817352" cy="841248"/>
          </a:xfrm>
          <a:prstGeom prst="roundRect">
            <a:avLst>
              <a:gd name="adj" fmla="val 1087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914400" y="422452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B1220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4334256"/>
            <a:ext cx="237744" cy="23774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554480" y="41605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School-Paid Search Desk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1554480" y="4507992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Searches for mid-major &amp; D-II/III, priced below the big firms.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7040880" y="4251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~$15K / search</a:t>
            </a:r>
            <a:endParaRPr lang="en-US" sz="1350" dirty="0"/>
          </a:p>
        </p:txBody>
      </p:sp>
      <p:sp>
        <p:nvSpPr>
          <p:cNvPr id="27" name="Shape 22"/>
          <p:cNvSpPr/>
          <p:nvPr/>
        </p:nvSpPr>
        <p:spPr>
          <a:xfrm>
            <a:off x="10012680" y="4270248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0012680" y="427024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685800" y="5020056"/>
            <a:ext cx="10817352" cy="841248"/>
          </a:xfrm>
          <a:prstGeom prst="roundRect">
            <a:avLst>
              <a:gd name="adj" fmla="val 1087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14400" y="52120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D4A62A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5321808"/>
            <a:ext cx="237744" cy="23774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554480" y="5148072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NFLPA Agent Commission</a:t>
            </a:r>
            <a:endParaRPr lang="en-US" sz="1500" dirty="0"/>
          </a:p>
        </p:txBody>
      </p:sp>
      <p:sp>
        <p:nvSpPr>
          <p:cNvPr id="33" name="Text 27"/>
          <p:cNvSpPr/>
          <p:nvPr/>
        </p:nvSpPr>
        <p:spPr>
          <a:xfrm>
            <a:off x="1554480" y="5495544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on NFL player contracts once Kim is certified.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7040880" y="523951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3% of contract</a:t>
            </a:r>
            <a:endParaRPr lang="en-US" sz="1350" dirty="0"/>
          </a:p>
        </p:txBody>
      </p:sp>
      <p:sp>
        <p:nvSpPr>
          <p:cNvPr id="35" name="Shape 29"/>
          <p:cNvSpPr/>
          <p:nvPr/>
        </p:nvSpPr>
        <p:spPr>
          <a:xfrm>
            <a:off x="10012680" y="5257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10012680" y="52578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850" dirty="0"/>
          </a:p>
        </p:txBody>
      </p:sp>
      <p:sp>
        <p:nvSpPr>
          <p:cNvPr id="37" name="Text 31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pPr indent="0" marL="0">
              <a:buNone/>
            </a:pPr>
            <a:r>
              <a:rPr lang="en-US" sz="850" dirty="0">
                <a:solidFill>
                  <a:srgbClr val="AEB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Revenue Model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phase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unlocks the next.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Relationships built representing coaches and guiding NIL become the pipeline for search and agent work.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737360" y="3063240"/>
            <a:ext cx="8686800" cy="0"/>
          </a:xfrm>
          <a:prstGeom prst="line">
            <a:avLst/>
          </a:prstGeom>
          <a:noFill/>
          <a:ln w="254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75104" y="2560320"/>
            <a:ext cx="1005840" cy="1005840"/>
          </a:xfrm>
          <a:prstGeom prst="ellipse">
            <a:avLst/>
          </a:prstGeom>
          <a:solidFill>
            <a:srgbClr val="2563EB"/>
          </a:solidFill>
          <a:ln/>
          <a:effectLst>
            <a:outerShdw sx="100000" sy="100000" kx="0" ky="0" algn="bl" rotWithShape="0" blurRad="101600" dist="25400" dir="5400000">
              <a:srgbClr val="CDD2D8">
                <a:alpha val="5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1992" y="2807208"/>
            <a:ext cx="512064" cy="5120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3749040"/>
            <a:ext cx="3584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85800" y="4069080"/>
            <a:ext cx="3584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+ NIL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60120" y="4572000"/>
            <a:ext cx="30358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the two core specialties; build the coach roster and the NIL newsletter funnel.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16168" y="2560320"/>
            <a:ext cx="1005840" cy="1005840"/>
          </a:xfrm>
          <a:prstGeom prst="ellipse">
            <a:avLst/>
          </a:prstGeom>
          <a:solidFill>
            <a:srgbClr val="0B1220"/>
          </a:solidFill>
          <a:ln/>
          <a:effectLst>
            <a:outerShdw sx="100000" sy="100000" kx="0" ky="0" algn="bl" rotWithShape="0" blurRad="101600" dist="25400" dir="5400000">
              <a:srgbClr val="CDD2D8">
                <a:alpha val="5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6" y="2807208"/>
            <a:ext cx="512064" cy="51206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26864" y="3749040"/>
            <a:ext cx="3584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626864" y="4069080"/>
            <a:ext cx="3584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Desk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901184" y="4572000"/>
            <a:ext cx="30358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school-paid searches for mid-major &amp; D-II/III — revenue on both sides of the market.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9857232" y="2560320"/>
            <a:ext cx="1005840" cy="1005840"/>
          </a:xfrm>
          <a:prstGeom prst="ellipse">
            <a:avLst/>
          </a:prstGeom>
          <a:solidFill>
            <a:srgbClr val="D4A62A"/>
          </a:solidFill>
          <a:ln/>
          <a:effectLst>
            <a:outerShdw sx="100000" sy="100000" kx="0" ky="0" algn="bl" rotWithShape="0" blurRad="101600" dist="25400" dir="5400000">
              <a:srgbClr val="CDD2D8">
                <a:alpha val="5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2807208"/>
            <a:ext cx="512064" cy="51206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67928" y="3749040"/>
            <a:ext cx="3584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8567928" y="4069080"/>
            <a:ext cx="3584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NFLPA Agent Rep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842248" y="4572000"/>
            <a:ext cx="30358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NFL player representation on certification — the highest-value engagements.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pPr indent="0" marL="0">
              <a:buNone/>
            </a:pPr>
            <a:r>
              <a:rPr lang="en-US" sz="850" dirty="0">
                <a:solidFill>
                  <a:srgbClr val="AEB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Growth Roadmap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FINANCIALS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scenarios, reaching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breakeven by Year 5.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model with all four lines active. The school-paid search desk pushes EBITDA positive by Year 5.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69494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2148840"/>
            <a:ext cx="3703320" cy="1371600"/>
          </a:xfrm>
          <a:prstGeom prst="roundRect">
            <a:avLst>
              <a:gd name="adj" fmla="val 800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2404872"/>
            <a:ext cx="420624" cy="4206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41080" y="2386584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092440" y="280720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~$574K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8110728" y="3246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Y5 revenue · EBITDA +$31K  ·  35 coaches placed by Y5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818120" y="3703320"/>
            <a:ext cx="3703320" cy="137160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959352"/>
            <a:ext cx="420624" cy="42062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641080" y="3941064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UPSIDE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8092440" y="436168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~$729K</a:t>
            </a:r>
            <a:endParaRPr lang="en-US" sz="2300" dirty="0"/>
          </a:p>
        </p:txBody>
      </p:sp>
      <p:sp>
        <p:nvSpPr>
          <p:cNvPr id="15" name="Text 10"/>
          <p:cNvSpPr/>
          <p:nvPr/>
        </p:nvSpPr>
        <p:spPr>
          <a:xfrm>
            <a:off x="8110728" y="48006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Y5 revenue · EBITDA +$8K  ·  62 coaches placed by Y5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7818120" y="5257800"/>
            <a:ext cx="370332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D4A62A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046720" y="534924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Breakeven in Year 5.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the school-paid search desk turns EBITDA positive by Y5 in both cases.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685800" y="6473952"/>
            <a:ext cx="10789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are placeholders for illustration only and do not constitute a forecast. All four lines active from their launch years.</a:t>
            </a:r>
            <a:endParaRPr lang="en-US" sz="750" dirty="0"/>
          </a:p>
        </p:txBody>
      </p:sp>
      <p:sp>
        <p:nvSpPr>
          <p:cNvPr id="19" name="Text 14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manage conflicts </a:t>
            </a:r>
            <a:pPr indent="0" marL="0">
              <a:buNone/>
            </a:pP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day one.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Representing both coaches and the players they recruit draws scrutiny. We address it before it's a problem.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230368" cy="1645920"/>
          </a:xfrm>
          <a:prstGeom prst="roundRect">
            <a:avLst>
              <a:gd name="adj" fmla="val 6667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3774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359152"/>
            <a:ext cx="4041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risk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00200" y="2761488"/>
            <a:ext cx="40416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Agencies that represent college coaches and NFL players at once face public criticism and conflict-of-interest questions.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72784" y="2103120"/>
            <a:ext cx="5230368" cy="1645920"/>
          </a:xfrm>
          <a:prstGeom prst="roundRect">
            <a:avLst>
              <a:gd name="adj" fmla="val 6667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237744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87184" y="2359152"/>
            <a:ext cx="4041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policy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187184" y="2761488"/>
            <a:ext cx="40416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written conflict policy before NFLPA certification — separate the coach and player books, with disclosure and client consent.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85800" y="3931920"/>
            <a:ext cx="5230368" cy="1645920"/>
          </a:xfrm>
          <a:prstGeom prst="roundRect">
            <a:avLst>
              <a:gd name="adj" fmla="val 6667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20624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00200" y="4187952"/>
            <a:ext cx="4041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Search-desk discipline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600200" y="4590288"/>
            <a:ext cx="40416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don't negotiate for a coach and take a school fee on the same hire without disclosure and consent.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272784" y="3931920"/>
            <a:ext cx="5230368" cy="1645920"/>
          </a:xfrm>
          <a:prstGeom prst="roundRect">
            <a:avLst>
              <a:gd name="adj" fmla="val 6667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7104" y="4206240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187184" y="4187952"/>
            <a:ext cx="4041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fit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7187184" y="4590288"/>
            <a:ext cx="40416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Kim's Juris Master in contracting and compliance makes governance a credibility asset, not an afterthought.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pPr indent="0" marL="0">
              <a:buNone/>
            </a:pPr>
            <a:r>
              <a:rPr lang="en-US" sz="850" dirty="0">
                <a:solidFill>
                  <a:srgbClr val="AEB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Governance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00" b="1" spc="300" kern="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base for a </a:t>
            </a:r>
            <a:pPr indent="0" marL="0">
              <a:buNone/>
            </a:pPr>
            <a:r>
              <a:rPr lang="en-US" sz="3000" i="1" dirty="0">
                <a:solidFill>
                  <a:srgbClr val="93B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multi-line business.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600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We're raising a seed round to build the team, systems, and certifications behind a phased representation firm.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286000"/>
            <a:ext cx="5257800" cy="1508760"/>
          </a:xfrm>
          <a:prstGeom prst="roundRect">
            <a:avLst>
              <a:gd name="adj" fmla="val 7273"/>
            </a:avLst>
          </a:prstGeom>
          <a:solidFill>
            <a:srgbClr val="121A2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060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56032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network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91640" y="2999232"/>
            <a:ext cx="3977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and NIL staff plus the relationships to drive deal flow on both sides of the market.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2784" y="2286000"/>
            <a:ext cx="5257800" cy="1508760"/>
          </a:xfrm>
          <a:prstGeom prst="roundRect">
            <a:avLst>
              <a:gd name="adj" fmla="val 7273"/>
            </a:avLst>
          </a:prstGeom>
          <a:solidFill>
            <a:srgbClr val="121A2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260604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78624" y="256032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NFLPA certification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278624" y="2999232"/>
            <a:ext cx="3977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the path to certified agent status and NFL client acquisition.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85800" y="3977640"/>
            <a:ext cx="5257800" cy="1508760"/>
          </a:xfrm>
          <a:prstGeom prst="roundRect">
            <a:avLst>
              <a:gd name="adj" fmla="val 7273"/>
            </a:avLst>
          </a:prstGeom>
          <a:solidFill>
            <a:srgbClr val="121A2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29768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25196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platform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1691640" y="4690872"/>
            <a:ext cx="3977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Compliance, tooling, and BD behind the Before You Sign toolkit and newsletter funnel.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272784" y="3977640"/>
            <a:ext cx="5257800" cy="1508760"/>
          </a:xfrm>
          <a:prstGeom prst="roundRect">
            <a:avLst>
              <a:gd name="adj" fmla="val 7273"/>
            </a:avLst>
          </a:prstGeom>
          <a:solidFill>
            <a:srgbClr val="121A2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4" y="429768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278624" y="425196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&amp; marketing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7278624" y="4690872"/>
            <a:ext cx="3977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 Dexter Sports Co. as the values-aligned name in representation.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989320"/>
            <a:ext cx="292608" cy="29260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51560" y="598932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803-203-5435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9509760" y="598932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dextersportsco.com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2026-10-09T14:27:50Z</dcterms:created>
  <dcterms:modified xsi:type="dcterms:W3CDTF">2026-10-09T14:27:50Z</dcterms:modified>
</cp:coreProperties>
</file>